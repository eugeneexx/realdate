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b0e0141f714266" /><Relationship Type="http://schemas.openxmlformats.org/officeDocument/2006/relationships/extended-properties" Target="/docProps/app.xml" Id="Rb16257c93c004dbe" /><Relationship Type="http://schemas.openxmlformats.org/officeDocument/2006/relationships/officeDocument" Target="/ppt/presentation.xml" Id="R7de517a794694b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e4c8ef8c044bad"/>
  </p:sldMasterIdLst>
  <p:notesMasterIdLst>
    <p:notesMasterId xmlns:r="http://schemas.openxmlformats.org/officeDocument/2006/relationships" r:id="R68a260a8e20946ec"/>
  </p:notesMasterIdLst>
  <p:sldIdLst>
    <p:sldId xmlns:r="http://schemas.openxmlformats.org/officeDocument/2006/relationships" id="256" r:id="R422cfe3b71e74078"/>
    <p:sldId xmlns:r="http://schemas.openxmlformats.org/officeDocument/2006/relationships" id="257" r:id="Ra910ceccde694029"/>
    <p:sldId xmlns:r="http://schemas.openxmlformats.org/officeDocument/2006/relationships" id="258" r:id="R1ddd999ca0d34def"/>
    <p:sldId xmlns:r="http://schemas.openxmlformats.org/officeDocument/2006/relationships" id="259" r:id="R31669e967a9147ad"/>
    <p:sldId xmlns:r="http://schemas.openxmlformats.org/officeDocument/2006/relationships" id="260" r:id="Re69643ab2f28485c"/>
    <p:sldId xmlns:r="http://schemas.openxmlformats.org/officeDocument/2006/relationships" id="261" r:id="Rba1ca8909178467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80aef6d2214057" /><Relationship Type="http://schemas.openxmlformats.org/officeDocument/2006/relationships/slideMaster" Target="/ppt/slideMasters/slideMaster1.xml" Id="Rdde4c8ef8c044bad" /><Relationship Type="http://schemas.openxmlformats.org/officeDocument/2006/relationships/notesMaster" Target="/ppt/notesMasters/notesMaster1.xml" Id="R68a260a8e20946ec" /><Relationship Type="http://schemas.openxmlformats.org/officeDocument/2006/relationships/presProps" Target="/ppt/presProps.xml" Id="R92861d2137ce4df6" /><Relationship Type="http://schemas.openxmlformats.org/officeDocument/2006/relationships/tableStyles" Target="/ppt/tableStyles.xml" Id="R24f2537c4e5f44f8" /><Relationship Type="http://schemas.openxmlformats.org/officeDocument/2006/relationships/slide" Target="/ppt/slides/slide1.xml" Id="R422cfe3b71e74078" /><Relationship Type="http://schemas.openxmlformats.org/officeDocument/2006/relationships/slide" Target="/ppt/slides/slide2.xml" Id="Ra910ceccde694029" /><Relationship Type="http://schemas.openxmlformats.org/officeDocument/2006/relationships/slide" Target="/ppt/slides/slide3.xml" Id="R1ddd999ca0d34def" /><Relationship Type="http://schemas.openxmlformats.org/officeDocument/2006/relationships/slide" Target="/ppt/slides/slide4.xml" Id="R31669e967a9147ad" /><Relationship Type="http://schemas.openxmlformats.org/officeDocument/2006/relationships/slide" Target="/ppt/slides/slide5.xml" Id="Re69643ab2f28485c" /><Relationship Type="http://schemas.openxmlformats.org/officeDocument/2006/relationships/slide" Target="/ppt/slides/slide6.xml" Id="Rba1ca890917846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f570bafd1e46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73e9404d3243f3" /><Relationship Type="http://schemas.openxmlformats.org/officeDocument/2006/relationships/notesMaster" Target="/ppt/notesMasters/notesMaster1.xml" Id="R5e086e0c8a5e43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db049c5d124bd5" /><Relationship Type="http://schemas.openxmlformats.org/officeDocument/2006/relationships/notesMaster" Target="/ppt/notesMasters/notesMaster1.xml" Id="R3533f74cf6de43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480583d0234631" /><Relationship Type="http://schemas.openxmlformats.org/officeDocument/2006/relationships/notesMaster" Target="/ppt/notesMasters/notesMaster1.xml" Id="R1329c900915740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820838c80d4aa4" /><Relationship Type="http://schemas.openxmlformats.org/officeDocument/2006/relationships/notesMaster" Target="/ppt/notesMasters/notesMaster1.xml" Id="R15a7d7f266304e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91d8e3687d4b96" /><Relationship Type="http://schemas.openxmlformats.org/officeDocument/2006/relationships/notesMaster" Target="/ppt/notesMasters/notesMaster1.xml" Id="Ra51a43c144cb42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96e626d9c845f3" /><Relationship Type="http://schemas.openxmlformats.org/officeDocument/2006/relationships/notesMaster" Target="/ppt/notesMasters/notesMaster1.xml" Id="R45ef7703f03247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b4216ba21649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f68fa51cf344c8" /><Relationship Type="http://schemas.openxmlformats.org/officeDocument/2006/relationships/slideLayout" Target="/ppt/slideLayouts/slideLayout1.xml" Id="Ra36cb434889943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6cb434889943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ec80d20f5249bb" /><Relationship Type="http://schemas.openxmlformats.org/officeDocument/2006/relationships/notesSlide" Target="/ppt/notesSlides/notesSlide1.xml" Id="R06ae22aed3d244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51ff65d4cd4cad" /><Relationship Type="http://schemas.openxmlformats.org/officeDocument/2006/relationships/image" Target="/ppt/media/image.png" Id="Rbf15f9489d6b45f0" /><Relationship Type="http://schemas.openxmlformats.org/officeDocument/2006/relationships/notesSlide" Target="/ppt/notesSlides/notesSlide2.xml" Id="R2a325c71decc48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ca97c385d4aa5" /><Relationship Type="http://schemas.openxmlformats.org/officeDocument/2006/relationships/image" Target="/ppt/media/image2.png" Id="Ref554b702a3e4b74" /><Relationship Type="http://schemas.openxmlformats.org/officeDocument/2006/relationships/notesSlide" Target="/ppt/notesSlides/notesSlide3.xml" Id="R9b7e0dd17b194f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ee82bb6a804fc9" /><Relationship Type="http://schemas.openxmlformats.org/officeDocument/2006/relationships/image" Target="/ppt/media/image3.png" Id="R7629d62aa0354273" /><Relationship Type="http://schemas.openxmlformats.org/officeDocument/2006/relationships/notesSlide" Target="/ppt/notesSlides/notesSlide4.xml" Id="R85b049702c0347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a644da22164c35" /><Relationship Type="http://schemas.openxmlformats.org/officeDocument/2006/relationships/image" Target="/ppt/media/image4.png" Id="R7c98021fbe4646f4" /><Relationship Type="http://schemas.openxmlformats.org/officeDocument/2006/relationships/notesSlide" Target="/ppt/notesSlides/notesSlide5.xml" Id="R53f6b9de5ae643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30dc372d94b30" /><Relationship Type="http://schemas.openxmlformats.org/officeDocument/2006/relationships/notesSlide" Target="/ppt/notesSlides/notesSlide6.xml" Id="Rdb7a1ed966af45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CBE52F-DAD8-47DC-BBF6-33EB6DB7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0"/>
            <a:ext cx="3524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0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brand">
            <a:extLst xmlns:a="http://schemas.openxmlformats.org/drawingml/2006/main">
              <a:ext uri="{FF2B5EF4-FFF2-40B4-BE49-F238E27FC236}">
                <a16:creationId xmlns:a16="http://schemas.microsoft.com/office/drawing/2014/main" id="{2B5EF301-581B-428C-9B9A-4E474444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700016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700016"/>
                </a:solidFill>
                <a:latin typeface="Georgia"/>
                <a:ea typeface="Georgia"/>
                <a:cs typeface="Georgia"/>
              </a:rPr>
              <a:t>REALDATE</a:t>
            </a:r>
          </a:p>
        </p:txBody>
      </p:sp>
      <p:sp>
        <p:nvSpPr>
          <p:cNvPr id="3" name="cover-brand-small">
            <a:extLst xmlns:a="http://schemas.openxmlformats.org/drawingml/2006/main">
              <a:ext uri="{FF2B5EF4-FFF2-40B4-BE49-F238E27FC236}">
                <a16:creationId xmlns:a16="http://schemas.microsoft.com/office/drawing/2014/main" id="{63C436C6-A1C2-46F1-BAF9-82D00C52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38175"/>
            <a:ext cx="666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" b="1" i="0">
                <a:solidFill>
                  <a:srgbClr val="700016"/>
                </a:solidFill>
                <a:latin typeface="Arial"/>
                <a:ea typeface="Arial"/>
                <a:cs typeface="Arial"/>
              </a:defRPr>
            </a:pPr>
            <a:r>
              <a:rPr sz="600" b="1" i="0">
                <a:solidFill>
                  <a:srgbClr val="700016"/>
                </a:solidFill>
                <a:latin typeface="Arial"/>
                <a:ea typeface="Arial"/>
                <a:cs typeface="Arial"/>
              </a:rPr>
              <a:t>quickly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30A9C3D-7775-46EA-A462-260633AB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75247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0" i="0">
                <a:solidFill>
                  <a:srgbClr val="271D20"/>
                </a:solidFill>
                <a:latin typeface="Georgia"/>
                <a:ea typeface="Georgia"/>
                <a:cs typeface="Georgia"/>
              </a:defRPr>
            </a:pPr>
            <a:r>
              <a:rPr sz="4650" b="0" i="0">
                <a:solidFill>
                  <a:srgbClr val="271D20"/>
                </a:solidFill>
                <a:latin typeface="Georgia"/>
                <a:ea typeface="Georgia"/>
                <a:cs typeface="Georgia"/>
              </a:rPr>
              <a:t>REALDATE</a:t>
            </a:r>
          </a:p>
          <a:p xmlns:a="http://schemas.openxmlformats.org/drawingml/2006/main">
            <a:pPr algn="l">
              <a:defRPr sz="4650" b="0" i="0">
                <a:solidFill>
                  <a:srgbClr val="271D20"/>
                </a:solidFill>
                <a:latin typeface="Georgia"/>
                <a:ea typeface="Georgia"/>
                <a:cs typeface="Georgia"/>
              </a:defRPr>
            </a:pPr>
            <a:r>
              <a:rPr sz="4650" b="0" i="0">
                <a:solidFill>
                  <a:srgbClr val="271D20"/>
                </a:solidFill>
                <a:latin typeface="Georgia"/>
                <a:ea typeface="Georgia"/>
                <a:cs typeface="Georgia"/>
              </a:rPr>
              <a:t>обновление сайта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9A93CC2-56B9-4904-A5D6-A7DC2CA6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76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7C7375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7C7375"/>
                </a:solidFill>
                <a:latin typeface="Arial"/>
                <a:ea typeface="Arial"/>
                <a:cs typeface="Arial"/>
              </a:rPr>
              <a:t>Профиль, регистрация, коммуникация</a:t>
            </a:r>
          </a:p>
          <a:p xmlns:a="http://schemas.openxmlformats.org/drawingml/2006/main">
            <a:pPr algn="l">
              <a:defRPr sz="1725" b="0" i="0">
                <a:solidFill>
                  <a:srgbClr val="7C7375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7C7375"/>
                </a:solidFill>
                <a:latin typeface="Arial"/>
                <a:ea typeface="Arial"/>
                <a:cs typeface="Arial"/>
              </a:rPr>
              <a:t>и управление участниками</a:t>
            </a:r>
          </a:p>
        </p:txBody>
      </p:sp>
      <p:sp>
        <p:nvSpPr>
          <p:cNvPr id="6" name="cover-date">
            <a:extLst xmlns:a="http://schemas.openxmlformats.org/drawingml/2006/main">
              <a:ext uri="{FF2B5EF4-FFF2-40B4-BE49-F238E27FC236}">
                <a16:creationId xmlns:a16="http://schemas.microsoft.com/office/drawing/2014/main" id="{72225B3F-3DDF-4479-B3DB-B4281C86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531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0001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00016"/>
                </a:solidFill>
                <a:latin typeface="Arial"/>
                <a:ea typeface="Arial"/>
                <a:cs typeface="Arial"/>
              </a:rPr>
              <a:t>МИНИ-ПРЕЗЕНТАЦИЯ ДЛЯ КЛИЕНТА · ИЮЛЬ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06DE53-5040-4219-B555-4906CB18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83820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ПОЛНЫЙ</a:t>
            </a:r>
          </a:p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ПРОФИЛЬ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9D8534-F6D5-4765-BE64-E2392C04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752600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26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8AEC1C-56E5-4939-88DD-51973C44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1526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СВОБОДНЫЕ</a:t>
            </a:r>
          </a:p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МЕСТА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5F71A6-A490-4310-99A0-637E5F38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67050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26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D9F481-42E1-429B-8B33-4318EF07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46710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КОНТАКТЫ</a:t>
            </a:r>
          </a:p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 ОДИН КЛИК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8AE225-D468-469E-9C07-014D6380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381500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26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862DA1-11C9-4CAF-8347-F1CD1D18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7815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БЫСТРЕЕ</a:t>
            </a:r>
          </a:p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ДЛЯ АДМИНА</a:t>
            </a:r>
          </a:p>
        </p:txBody>
      </p:sp>
      <p:sp>
        <p:nvSpPr>
          <p:cNvPr id="14" name="footer-brand-1">
            <a:extLst xmlns:a="http://schemas.openxmlformats.org/drawingml/2006/main">
              <a:ext uri="{FF2B5EF4-FFF2-40B4-BE49-F238E27FC236}">
                <a16:creationId xmlns:a16="http://schemas.microsoft.com/office/drawing/2014/main" id="{4897549C-106E-44BB-93BE-F2C38C3B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EEDFC4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EEDFC4"/>
                </a:solidFill>
                <a:latin typeface="Arial"/>
                <a:ea typeface="Arial"/>
                <a:cs typeface="Arial"/>
              </a:rPr>
              <a:t>REALDATE · ОБНОВЛЕНИЯ</a:t>
            </a:r>
          </a:p>
        </p:txBody>
      </p:sp>
      <p:sp>
        <p:nvSpPr>
          <p:cNvPr id="15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793D2860-AE01-4AF8-93AB-DA23274B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EEDFC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EEDFC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23860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line-2">
            <a:extLst xmlns:a="http://schemas.openxmlformats.org/drawingml/2006/main">
              <a:ext uri="{FF2B5EF4-FFF2-40B4-BE49-F238E27FC236}">
                <a16:creationId xmlns:a16="http://schemas.microsoft.com/office/drawing/2014/main" id="{79FC1C1D-D443-4230-836B-C5B3A939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0" i="0">
                <a:solidFill>
                  <a:srgbClr val="271D20"/>
                </a:solidFill>
                <a:latin typeface="Georgia"/>
                <a:ea typeface="Georgia"/>
                <a:cs typeface="Georgia"/>
              </a:defRPr>
            </a:pPr>
            <a:r>
              <a:rPr sz="2850" b="0" i="0">
                <a:solidFill>
                  <a:srgbClr val="271D20"/>
                </a:solidFill>
                <a:latin typeface="Georgia"/>
                <a:ea typeface="Georgia"/>
                <a:cs typeface="Georgia"/>
              </a:rPr>
              <a:t>Полный профиль стал условием регистрации</a:t>
            </a:r>
          </a:p>
        </p:txBody>
      </p:sp>
      <p:sp>
        <p:nvSpPr>
          <p:cNvPr id="2" name="subtitle-2">
            <a:extLst xmlns:a="http://schemas.openxmlformats.org/drawingml/2006/main">
              <a:ext uri="{FF2B5EF4-FFF2-40B4-BE49-F238E27FC236}">
                <a16:creationId xmlns:a16="http://schemas.microsoft.com/office/drawing/2014/main" id="{72F4D42A-0E36-41D5-AEDE-768D841E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C73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C7375"/>
                </a:solidFill>
                <a:latin typeface="Arial"/>
                <a:ea typeface="Arial"/>
                <a:cs typeface="Arial"/>
              </a:rPr>
              <a:t>К событию допускается только пользователь с достаточными данными для участия.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39AD1B-89B0-4FEF-9EC1-021ED220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D191B7-EB59-43FC-B4C7-8E48CF9A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954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0001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00016"/>
                </a:solidFill>
                <a:latin typeface="Arial"/>
                <a:ea typeface="Arial"/>
                <a:cs typeface="Arial"/>
              </a:rPr>
              <a:t>Обязательные данные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2BB3B1-2118-46D8-B2BB-649B8489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81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0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143BAC-A593-45DE-B1CF-A0A68B04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71D2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71D20"/>
                </a:solidFill>
                <a:latin typeface="Arial"/>
                <a:ea typeface="Arial"/>
                <a:cs typeface="Arial"/>
              </a:rPr>
              <a:t>Фото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55B01B-AECD-49B1-8385-075602D1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C737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C7375"/>
                </a:solidFill>
                <a:latin typeface="Arial"/>
                <a:ea typeface="Arial"/>
                <a:cs typeface="Arial"/>
              </a:rPr>
              <a:t>загружается до записи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C79780-379C-4E6B-93E0-388BF2ED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905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0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A8D4AF-2991-44BC-B6F6-2AEBA003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479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71D2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71D20"/>
                </a:solidFill>
                <a:latin typeface="Arial"/>
                <a:ea typeface="Arial"/>
                <a:cs typeface="Arial"/>
              </a:rPr>
              <a:t>Имя и пол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65AE30-166B-4A3B-9CF2-B3621B2D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C737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C7375"/>
                </a:solidFill>
                <a:latin typeface="Arial"/>
                <a:ea typeface="Arial"/>
                <a:cs typeface="Arial"/>
              </a:rPr>
              <a:t>основа карточки участника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D5451D-1C6C-41A1-A749-7D6D7209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29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0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4B46FF-18C7-40D5-85D3-FD54AD4E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71D2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71D20"/>
                </a:solidFill>
                <a:latin typeface="Arial"/>
                <a:ea typeface="Arial"/>
                <a:cs typeface="Arial"/>
              </a:rPr>
              <a:t>Дата рождения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A550EE-C85C-47BA-8B37-E3005574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C737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C7375"/>
                </a:solidFill>
                <a:latin typeface="Arial"/>
                <a:ea typeface="Arial"/>
                <a:cs typeface="Arial"/>
              </a:rPr>
              <a:t>возраст считается автоматически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BCF007-D50D-48FB-BFA9-C5925D13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52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0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C6C76A-8028-4291-9AAA-EF314664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71D2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71D20"/>
                </a:solidFill>
                <a:latin typeface="Arial"/>
                <a:ea typeface="Arial"/>
                <a:cs typeface="Arial"/>
              </a:rPr>
              <a:t>Телефон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144A85-EF4A-462B-9F53-CBD65B28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C737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C7375"/>
                </a:solidFill>
                <a:latin typeface="Arial"/>
                <a:ea typeface="Arial"/>
                <a:cs typeface="Arial"/>
              </a:rPr>
              <a:t>берётся из авторизации и не редактируется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C1F9B9-9F9E-4F0A-8BDB-C8D595E4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076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0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524432-224B-4562-B36C-213124D2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71D2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71D20"/>
                </a:solidFill>
                <a:latin typeface="Arial"/>
                <a:ea typeface="Arial"/>
                <a:cs typeface="Arial"/>
              </a:rPr>
              <a:t>Telegram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769BB4-3F99-47A5-BA70-1DAE3DD3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C737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C7375"/>
                </a:solidFill>
                <a:latin typeface="Arial"/>
                <a:ea typeface="Arial"/>
                <a:cs typeface="Arial"/>
              </a:rPr>
              <a:t>обязательный канал связи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9AF36B-0930-4959-ACBE-DF546F16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4857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5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E64A6B-6C22-4D8B-B986-9E336ADB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95312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0001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00016"/>
                </a:solidFill>
                <a:latin typeface="Arial"/>
                <a:ea typeface="Arial"/>
                <a:cs typeface="Arial"/>
              </a:rPr>
              <a:t>Email добавлен в личный кабинет как опциональное поле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73FD90-E64B-49FA-BB4B-0D0C741D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00200"/>
            <a:ext cx="6153150" cy="4724400"/>
          </a:xfrm>
          <a:prstGeom xmlns:a="http://schemas.openxmlformats.org/drawingml/2006/main" prst="roundRect">
            <a:avLst>
              <a:gd name="adj" fmla="val 24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9D2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15f9489d6b45f0"/>
          <a:srcRect xmlns:a="http://schemas.openxmlformats.org/drawingml/2006/main" l="0" t="7058" r="0" b="70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76900" y="1657350"/>
            <a:ext cx="6038850" cy="4610100"/>
          </a:xfrm>
          <a:prstGeom xmlns:a="http://schemas.openxmlformats.org/drawingml/2006/main" prst="roundRect">
            <a:avLst>
              <a:gd name="adj" fmla="val 2479"/>
            </a:avLst>
          </a:prstGeom>
        </p:spPr>
      </p:pic>
      <p:sp>
        <p:nvSpPr>
          <p:cNvPr id="24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2765B625-8119-4025-B5E7-71572B65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7C7375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C7375"/>
                </a:solidFill>
                <a:latin typeface="Arial"/>
                <a:ea typeface="Arial"/>
                <a:cs typeface="Arial"/>
              </a:rPr>
              <a:t>REALDATE · ОБНОВЛЕНИЯ</a:t>
            </a:r>
          </a:p>
        </p:txBody>
      </p:sp>
      <p:sp>
        <p:nvSpPr>
          <p:cNvPr id="25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3C48C75B-CC06-45AC-BAAF-E1721DC3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7C7375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C737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75310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line-3">
            <a:extLst xmlns:a="http://schemas.openxmlformats.org/drawingml/2006/main">
              <a:ext uri="{FF2B5EF4-FFF2-40B4-BE49-F238E27FC236}">
                <a16:creationId xmlns:a16="http://schemas.microsoft.com/office/drawing/2014/main" id="{D2DB4631-0193-4247-A640-CC46D9FC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0" i="0">
                <a:solidFill>
                  <a:srgbClr val="271D20"/>
                </a:solidFill>
                <a:latin typeface="Georgia"/>
                <a:ea typeface="Georgia"/>
                <a:cs typeface="Georgia"/>
              </a:defRPr>
            </a:pPr>
            <a:r>
              <a:rPr sz="2850" b="0" i="0">
                <a:solidFill>
                  <a:srgbClr val="271D20"/>
                </a:solidFill>
                <a:latin typeface="Georgia"/>
                <a:ea typeface="Georgia"/>
                <a:cs typeface="Georgia"/>
              </a:rPr>
              <a:t>Свободные места видны до подачи заявки</a:t>
            </a:r>
          </a:p>
        </p:txBody>
      </p:sp>
      <p:sp>
        <p:nvSpPr>
          <p:cNvPr id="2" name="subtitle-3">
            <a:extLst xmlns:a="http://schemas.openxmlformats.org/drawingml/2006/main">
              <a:ext uri="{FF2B5EF4-FFF2-40B4-BE49-F238E27FC236}">
                <a16:creationId xmlns:a16="http://schemas.microsoft.com/office/drawing/2014/main" id="{98E75A8D-7F3B-4284-9FE1-EBA93DA5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C73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C7375"/>
                </a:solidFill>
                <a:latin typeface="Arial"/>
                <a:ea typeface="Arial"/>
                <a:cs typeface="Arial"/>
              </a:rPr>
              <a:t>На карточке каждого мероприятия показан актуальный остаток отдельно для девушек и мужчин.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E8BBD4-C126-45C0-9B4F-0E822F47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626C5A-A616-4E87-B031-2DA363A6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581150"/>
            <a:ext cx="11468100" cy="440055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9D2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554b702a3e4b74"/>
          <a:srcRect xmlns:a="http://schemas.openxmlformats.org/drawingml/2006/main" l="0" t="23847" r="0" b="238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638300"/>
            <a:ext cx="11353800" cy="428625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4FBD37-F806-4A31-8F3B-F77CCA35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4476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700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7E5432-83D0-422B-B01A-EA0547EC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8162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Меньше уточнений — понятнее решение о записи</a:t>
            </a:r>
          </a:p>
        </p:txBody>
      </p:sp>
      <p:sp>
        <p:nvSpPr>
          <p:cNvPr id="8" name="footer-brand-3">
            <a:extLst xmlns:a="http://schemas.openxmlformats.org/drawingml/2006/main">
              <a:ext uri="{FF2B5EF4-FFF2-40B4-BE49-F238E27FC236}">
                <a16:creationId xmlns:a16="http://schemas.microsoft.com/office/drawing/2014/main" id="{C4B20555-48D4-40CC-874C-477479B3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7C7375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C7375"/>
                </a:solidFill>
                <a:latin typeface="Arial"/>
                <a:ea typeface="Arial"/>
                <a:cs typeface="Arial"/>
              </a:rPr>
              <a:t>REALDATE · ОБНОВЛЕНИЯ</a:t>
            </a:r>
          </a:p>
        </p:txBody>
      </p:sp>
      <p:sp>
        <p:nvSpPr>
          <p:cNvPr id="9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7C050D0E-C433-40CD-A1D1-06A5CBC5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7C7375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C737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642060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line-4">
            <a:extLst xmlns:a="http://schemas.openxmlformats.org/drawingml/2006/main">
              <a:ext uri="{FF2B5EF4-FFF2-40B4-BE49-F238E27FC236}">
                <a16:creationId xmlns:a16="http://schemas.microsoft.com/office/drawing/2014/main" id="{4BC0A866-3821-408B-8282-C25D9A80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0" i="0">
                <a:solidFill>
                  <a:srgbClr val="271D20"/>
                </a:solidFill>
                <a:latin typeface="Georgia"/>
                <a:ea typeface="Georgia"/>
                <a:cs typeface="Georgia"/>
              </a:defRPr>
            </a:pPr>
            <a:r>
              <a:rPr sz="2850" b="0" i="0">
                <a:solidFill>
                  <a:srgbClr val="271D20"/>
                </a:solidFill>
                <a:latin typeface="Georgia"/>
                <a:ea typeface="Georgia"/>
                <a:cs typeface="Georgia"/>
              </a:rPr>
              <a:t>Поддержка стала доступна в один клик</a:t>
            </a:r>
          </a:p>
        </p:txBody>
      </p:sp>
      <p:sp>
        <p:nvSpPr>
          <p:cNvPr id="2" name="subtitle-4">
            <a:extLst xmlns:a="http://schemas.openxmlformats.org/drawingml/2006/main">
              <a:ext uri="{FF2B5EF4-FFF2-40B4-BE49-F238E27FC236}">
                <a16:creationId xmlns:a16="http://schemas.microsoft.com/office/drawing/2014/main" id="{6F6BDA86-3D40-4FCA-B36A-5D11BFE4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C73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C7375"/>
                </a:solidFill>
                <a:latin typeface="Arial"/>
                <a:ea typeface="Arial"/>
                <a:cs typeface="Arial"/>
              </a:rPr>
              <a:t>Контакты видны ещё до входа и остаются в меню после авторизации.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9B4A36-6B35-4C85-A8DF-BDE22934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E96458-3DDB-4DD9-B7D9-247E9903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859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0001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00016"/>
                </a:solidFill>
                <a:latin typeface="Arial"/>
                <a:ea typeface="Arial"/>
                <a:cs typeface="Arial"/>
              </a:rPr>
              <a:t>Единый контактный блок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6ABC47-A841-44CD-8A62-A724FA72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524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0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CB2EB5-6CCA-445C-8D10-A8DAAA22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71D2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71D20"/>
                </a:solidFill>
                <a:latin typeface="Arial"/>
                <a:ea typeface="Arial"/>
                <a:cs typeface="Arial"/>
              </a:rPr>
              <a:t>Телефон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708C23-5CC7-4428-8CF5-AD869EA3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C737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C7375"/>
                </a:solidFill>
                <a:latin typeface="Arial"/>
                <a:ea typeface="Arial"/>
                <a:cs typeface="Arial"/>
              </a:rPr>
              <a:t>+7 999 080-01-37 — кликабельный звонок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90C1F-414F-4D93-8A06-C859A4E9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19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0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26EDDB-8FBD-42EC-99D5-17FA481C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71D2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71D20"/>
                </a:solidFill>
                <a:latin typeface="Arial"/>
                <a:ea typeface="Arial"/>
                <a:cs typeface="Arial"/>
              </a:rPr>
              <a:t>Telegram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E8BDDA-FFF5-426E-AD68-1B0C0BF4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C737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C7375"/>
                </a:solidFill>
                <a:latin typeface="Arial"/>
                <a:ea typeface="Arial"/>
                <a:cs typeface="Arial"/>
              </a:rPr>
              <a:t>@katy_sha_00 — переход сразу в чат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131EC7-0445-4F7D-9AD0-982D1799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314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00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FCAB26-9E10-4BCC-836D-03FDE938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71D2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71D20"/>
                </a:solidFill>
                <a:latin typeface="Arial"/>
                <a:ea typeface="Arial"/>
                <a:cs typeface="Arial"/>
              </a:rPr>
              <a:t>Доступность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C48D4B-6EB1-432E-939F-63A855BD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C737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C7375"/>
                </a:solidFill>
                <a:latin typeface="Arial"/>
                <a:ea typeface="Arial"/>
                <a:cs typeface="Arial"/>
              </a:rPr>
              <a:t>контакты размещены на экране входа и в боковом меню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D6E323-D13C-4435-A206-F35E25B3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91150"/>
            <a:ext cx="4381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DF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B0EF16-9D37-448B-B032-3EA6D664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3943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70001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700016"/>
                </a:solidFill>
                <a:latin typeface="Arial"/>
                <a:ea typeface="Arial"/>
                <a:cs typeface="Arial"/>
              </a:rPr>
              <a:t>Пользователь не ищет поддержку — она всегда находится рядом с основным действием.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0C0093-78D5-4677-99D3-93B9CA68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5238750" cy="466725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9D2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29d62aa0354273"/>
          <a:srcRect xmlns:a="http://schemas.openxmlformats.org/drawingml/2006/main" l="0" t="817" r="0" b="8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676400"/>
            <a:ext cx="5124450" cy="4552950"/>
          </a:xfrm>
          <a:prstGeom xmlns:a="http://schemas.openxmlformats.org/drawingml/2006/main" prst="roundRect">
            <a:avLst>
              <a:gd name="adj" fmla="val 2510"/>
            </a:avLst>
          </a:prstGeom>
        </p:spPr>
      </p:pic>
      <p:sp>
        <p:nvSpPr>
          <p:cNvPr id="18" name="footer-brand-4">
            <a:extLst xmlns:a="http://schemas.openxmlformats.org/drawingml/2006/main">
              <a:ext uri="{FF2B5EF4-FFF2-40B4-BE49-F238E27FC236}">
                <a16:creationId xmlns:a16="http://schemas.microsoft.com/office/drawing/2014/main" id="{BF65A608-DAD8-427B-B160-9DFC2BAE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7C7375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C7375"/>
                </a:solidFill>
                <a:latin typeface="Arial"/>
                <a:ea typeface="Arial"/>
                <a:cs typeface="Arial"/>
              </a:rPr>
              <a:t>REALDATE · ОБНОВЛЕНИЯ</a:t>
            </a:r>
          </a:p>
        </p:txBody>
      </p:sp>
      <p:sp>
        <p:nvSpPr>
          <p:cNvPr id="19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0156D14A-E053-4937-AB78-DC83BCC7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7C7375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C737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163664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line-5">
            <a:extLst xmlns:a="http://schemas.openxmlformats.org/drawingml/2006/main">
              <a:ext uri="{FF2B5EF4-FFF2-40B4-BE49-F238E27FC236}">
                <a16:creationId xmlns:a16="http://schemas.microsoft.com/office/drawing/2014/main" id="{7746DE73-81F6-4EF3-B21A-AD035CF6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0" i="0">
                <a:solidFill>
                  <a:srgbClr val="271D20"/>
                </a:solidFill>
                <a:latin typeface="Georgia"/>
                <a:ea typeface="Georgia"/>
                <a:cs typeface="Georgia"/>
              </a:defRPr>
            </a:pPr>
            <a:r>
              <a:rPr sz="2850" b="0" i="0">
                <a:solidFill>
                  <a:srgbClr val="271D20"/>
                </a:solidFill>
                <a:latin typeface="Georgia"/>
                <a:ea typeface="Georgia"/>
                <a:cs typeface="Georgia"/>
              </a:rPr>
              <a:t>Администратор связывается с участником прямо из заявки</a:t>
            </a:r>
          </a:p>
        </p:txBody>
      </p:sp>
      <p:sp>
        <p:nvSpPr>
          <p:cNvPr id="2" name="subtitle-5">
            <a:extLst xmlns:a="http://schemas.openxmlformats.org/drawingml/2006/main">
              <a:ext uri="{FF2B5EF4-FFF2-40B4-BE49-F238E27FC236}">
                <a16:creationId xmlns:a16="http://schemas.microsoft.com/office/drawing/2014/main" id="{1ED29EBE-B58F-4D86-BAC0-FA23A633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C73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C7375"/>
                </a:solidFill>
                <a:latin typeface="Arial"/>
                <a:ea typeface="Arial"/>
                <a:cs typeface="Arial"/>
              </a:rPr>
              <a:t>Телефон и Telegram оформлены как заметные действия рядом с данными участника.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2097A7-3295-426A-894F-662AF137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E62F73-A733-4662-88B1-843D069E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638300"/>
            <a:ext cx="1146810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9D2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98021fbe4646f4"/>
          <a:srcRect xmlns:a="http://schemas.openxmlformats.org/drawingml/2006/main" l="56" t="0" r="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695450"/>
            <a:ext cx="11353800" cy="3409950"/>
          </a:xfrm>
          <a:prstGeom xmlns:a="http://schemas.openxmlformats.org/drawingml/2006/main" prst="roundRect">
            <a:avLst>
              <a:gd name="adj" fmla="val 3352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9A7237-343E-459E-8779-A39CB841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769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0001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00016"/>
                </a:solidFill>
                <a:latin typeface="Arial"/>
                <a:ea typeface="Arial"/>
                <a:cs typeface="Arial"/>
              </a:rPr>
              <a:t>ПОЗВОНИТЬ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E57D6E-F080-427E-BE90-D10DBD9E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150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C737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C7375"/>
                </a:solidFill>
                <a:latin typeface="Arial"/>
                <a:ea typeface="Arial"/>
                <a:cs typeface="Arial"/>
              </a:rPr>
              <a:t>номер выделен как отдельная кнопка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83D7B0-A1FF-4A71-91FF-B117B1BC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6769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0001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00016"/>
                </a:solidFill>
                <a:latin typeface="Arial"/>
                <a:ea typeface="Arial"/>
                <a:cs typeface="Arial"/>
              </a:rPr>
              <a:t>TELEGRAM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F1E22F-E9F6-4F91-807B-57325326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9150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C737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C7375"/>
                </a:solidFill>
                <a:latin typeface="Arial"/>
                <a:ea typeface="Arial"/>
                <a:cs typeface="Arial"/>
              </a:rPr>
              <a:t>ссылка строится по username пользователя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174BFF-967E-4E96-A634-5801DA4C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6769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0001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00016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123AC-C308-47B2-A12C-AD2F9543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9150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C737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C7375"/>
                </a:solidFill>
                <a:latin typeface="Arial"/>
                <a:ea typeface="Arial"/>
                <a:cs typeface="Arial"/>
              </a:rPr>
              <a:t>оплата и подтверждение остаются в одной строке</a:t>
            </a:r>
          </a:p>
        </p:txBody>
      </p:sp>
      <p:sp>
        <p:nvSpPr>
          <p:cNvPr id="12" name="footer-brand-5">
            <a:extLst xmlns:a="http://schemas.openxmlformats.org/drawingml/2006/main">
              <a:ext uri="{FF2B5EF4-FFF2-40B4-BE49-F238E27FC236}">
                <a16:creationId xmlns:a16="http://schemas.microsoft.com/office/drawing/2014/main" id="{54D98075-24AC-4C14-BBC8-ADF0DEBB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7C7375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C7375"/>
                </a:solidFill>
                <a:latin typeface="Arial"/>
                <a:ea typeface="Arial"/>
                <a:cs typeface="Arial"/>
              </a:rPr>
              <a:t>REALDATE · ОБНОВЛЕНИЯ</a:t>
            </a:r>
          </a:p>
        </p:txBody>
      </p:sp>
      <p:sp>
        <p:nvSpPr>
          <p:cNvPr id="13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0FDC40F8-342B-4EA7-B69F-65354321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7C7375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C737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752113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adline-6">
            <a:extLst xmlns:a="http://schemas.openxmlformats.org/drawingml/2006/main">
              <a:ext uri="{FF2B5EF4-FFF2-40B4-BE49-F238E27FC236}">
                <a16:creationId xmlns:a16="http://schemas.microsoft.com/office/drawing/2014/main" id="{7604306B-FB5D-4139-B532-F27E63DA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0" i="0">
                <a:solidFill>
                  <a:srgbClr val="271D20"/>
                </a:solidFill>
                <a:latin typeface="Georgia"/>
                <a:ea typeface="Georgia"/>
                <a:cs typeface="Georgia"/>
              </a:defRPr>
            </a:pPr>
            <a:r>
              <a:rPr sz="2850" b="0" i="0">
                <a:solidFill>
                  <a:srgbClr val="271D20"/>
                </a:solidFill>
                <a:latin typeface="Georgia"/>
                <a:ea typeface="Georgia"/>
                <a:cs typeface="Georgia"/>
              </a:rPr>
              <a:t>Изменения сокращают путь от интереса до участия</a:t>
            </a:r>
          </a:p>
        </p:txBody>
      </p:sp>
      <p:sp>
        <p:nvSpPr>
          <p:cNvPr id="2" name="subtitle-6">
            <a:extLst xmlns:a="http://schemas.openxmlformats.org/drawingml/2006/main">
              <a:ext uri="{FF2B5EF4-FFF2-40B4-BE49-F238E27FC236}">
                <a16:creationId xmlns:a16="http://schemas.microsoft.com/office/drawing/2014/main" id="{3349BA4A-C98A-4020-BC02-C2578ECD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C73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C7375"/>
                </a:solidFill>
                <a:latin typeface="Arial"/>
                <a:ea typeface="Arial"/>
                <a:cs typeface="Arial"/>
              </a:rPr>
              <a:t>Новая версия собрана в единый рабочий сценарий — для пользователя и организатора.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F36E6E-96A0-4B9D-A9DF-44BCE6D7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9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F3CF3-97E9-4C27-968D-274689CF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5814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9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C93C19-98BE-47A0-A661-7C6E6DCA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85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0" i="0">
                <a:solidFill>
                  <a:srgbClr val="700016"/>
                </a:solidFill>
                <a:latin typeface="Georgia"/>
                <a:ea typeface="Georgia"/>
                <a:cs typeface="Georgia"/>
              </a:defRPr>
            </a:pPr>
            <a:r>
              <a:rPr sz="3300" b="0" i="0">
                <a:solidFill>
                  <a:srgbClr val="700016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2C1866-97C4-41FF-AAC2-A0005A4B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0001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00016"/>
                </a:solidFill>
                <a:latin typeface="Arial"/>
                <a:ea typeface="Arial"/>
                <a:cs typeface="Arial"/>
              </a:rPr>
              <a:t>КАЧЕСТВО ДАННЫХ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D26322-999C-4CDC-8AAB-7A7565C8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71D20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271D20"/>
                </a:solidFill>
                <a:latin typeface="Georgia"/>
                <a:ea typeface="Georgia"/>
                <a:cs typeface="Georgia"/>
              </a:rPr>
              <a:t>Полный профиль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193F80-3E1B-466F-9DA7-28C462A4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C73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C7375"/>
                </a:solidFill>
                <a:latin typeface="Arial"/>
                <a:ea typeface="Arial"/>
                <a:cs typeface="Arial"/>
              </a:rPr>
              <a:t>Заявка создаётся только с ключевыми данными и фотографией.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A33880-0C0C-416B-8013-7020EF37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35814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700016"/>
          </a:solidFill>
          <a:ln xmlns:a="http://schemas.openxmlformats.org/drawingml/2006/main" w="9525">
            <a:solidFill>
              <a:srgbClr val="70001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EA2EE4-9002-488D-B93C-26D33008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14550"/>
            <a:ext cx="85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0" i="0">
                <a:solidFill>
                  <a:srgbClr val="EEDFC4"/>
                </a:solidFill>
                <a:latin typeface="Georgia"/>
                <a:ea typeface="Georgia"/>
                <a:cs typeface="Georgia"/>
              </a:defRPr>
            </a:pPr>
            <a:r>
              <a:rPr sz="3300" b="0" i="0">
                <a:solidFill>
                  <a:srgbClr val="EEDFC4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62833D-2BAE-4B14-A682-C8A750DF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575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EEDFC4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EEDFC4"/>
                </a:solidFill>
                <a:latin typeface="Arial"/>
                <a:ea typeface="Arial"/>
                <a:cs typeface="Arial"/>
              </a:rPr>
              <a:t>ПРОЗРАЧНОСТЬ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12FCAF-437A-4834-9392-CF1513A6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3375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Места заранее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597F1F-1E8A-48B2-8E0F-F1890658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6240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7EDEF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7EDEF"/>
                </a:solidFill>
                <a:latin typeface="Arial"/>
                <a:ea typeface="Arial"/>
                <a:cs typeface="Arial"/>
              </a:rPr>
              <a:t>Пользователь видит доступность до регистрации на событие.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C8CB93-C9BA-45E0-854F-F0FF81CE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35814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9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DA4225-DC70-4510-86CD-0A1EE753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14550"/>
            <a:ext cx="85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0" i="0">
                <a:solidFill>
                  <a:srgbClr val="700016"/>
                </a:solidFill>
                <a:latin typeface="Georgia"/>
                <a:ea typeface="Georgia"/>
                <a:cs typeface="Georgia"/>
              </a:defRPr>
            </a:pPr>
            <a:r>
              <a:rPr sz="3300" b="0" i="0">
                <a:solidFill>
                  <a:srgbClr val="700016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266AA5-194B-442A-9FD9-DF235A36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575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00016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00016"/>
                </a:solidFill>
                <a:latin typeface="Arial"/>
                <a:ea typeface="Arial"/>
                <a:cs typeface="Arial"/>
              </a:rPr>
              <a:t>СКОРОСТЬ СВЯЗИ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4055FF-577B-4959-AB1E-28A5243E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3375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71D20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271D20"/>
                </a:solidFill>
                <a:latin typeface="Georgia"/>
                <a:ea typeface="Georgia"/>
                <a:cs typeface="Georgia"/>
              </a:rPr>
              <a:t>Контакты в один клик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FBD8AE-D1F0-4A49-8121-F0348703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6240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C737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7C7375"/>
                </a:solidFill>
                <a:latin typeface="Arial"/>
                <a:ea typeface="Arial"/>
                <a:cs typeface="Arial"/>
              </a:rPr>
              <a:t>Звонок, Telegram и поддержка встроены в рабочий процесс.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358832-2CDE-426D-93F2-FECF41B2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5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FD4E8A-75F8-4C0C-9BEB-B73223B2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70001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700016"/>
                </a:solidFill>
                <a:latin typeface="Arial"/>
                <a:ea typeface="Arial"/>
                <a:cs typeface="Arial"/>
              </a:rPr>
              <a:t>Готово к демонстрации и рабочей эксплуатации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C4032A-C1B3-48EA-A823-422C2FBF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61975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7C737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7C7375"/>
                </a:solidFill>
                <a:latin typeface="Arial"/>
                <a:ea typeface="Arial"/>
                <a:cs typeface="Arial"/>
              </a:rPr>
              <a:t>HTTPS · контейнерный запуск · данные сохранены · новый сервер</a:t>
            </a:r>
          </a:p>
        </p:txBody>
      </p:sp>
      <p:sp>
        <p:nvSpPr>
          <p:cNvPr id="22" name="footer-brand-6">
            <a:extLst xmlns:a="http://schemas.openxmlformats.org/drawingml/2006/main">
              <a:ext uri="{FF2B5EF4-FFF2-40B4-BE49-F238E27FC236}">
                <a16:creationId xmlns:a16="http://schemas.microsoft.com/office/drawing/2014/main" id="{CB73E73B-8D7D-4B18-B0F8-869A7656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7C7375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7C7375"/>
                </a:solidFill>
                <a:latin typeface="Arial"/>
                <a:ea typeface="Arial"/>
                <a:cs typeface="Arial"/>
              </a:rPr>
              <a:t>REALDATE · ОБНОВЛЕНИЯ</a:t>
            </a:r>
          </a:p>
        </p:txBody>
      </p:sp>
      <p:sp>
        <p:nvSpPr>
          <p:cNvPr id="23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AE2BD208-DB9A-4911-A160-7FE5BFA8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7C7375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7C737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822626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2026-07-14T10:31:54.0400000Z</dcterms:created>
  <dcterms:modified xsi:type="dcterms:W3CDTF">2026-07-14T10:31:54.0400000Z</dcterms:modified>
</coreProperties>
</file>